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ypi.org/project/fio-plot/https:/github.com/louwrentius/fio-plot/blob/master/README.md" TargetMode="External" Type="http://schemas.openxmlformats.org/officeDocument/2006/relationships/hyperlink"/><Relationship Id="rId3" Target="https://pypi.org/project/fio-plot/https:/github.com/louwrentius/fio-plot/blob/master/README.md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14701" y="233279"/>
            <a:ext cx="1993215" cy="2583611"/>
          </a:xfrm>
          <a:custGeom>
            <a:avLst/>
            <a:gdLst/>
            <a:ahLst/>
            <a:cxnLst/>
            <a:rect r="r" b="b" t="t" l="l"/>
            <a:pathLst>
              <a:path h="2583611" w="1993215">
                <a:moveTo>
                  <a:pt x="0" y="0"/>
                </a:moveTo>
                <a:lnTo>
                  <a:pt x="1993215" y="0"/>
                </a:lnTo>
                <a:lnTo>
                  <a:pt x="1993215" y="2583610"/>
                </a:lnTo>
                <a:lnTo>
                  <a:pt x="0" y="258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3924" y="3167090"/>
            <a:ext cx="15877384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BENCHMARK E RESOLUÇÃO DE EXERCÍCIOS</a:t>
            </a:r>
          </a:p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de Desempenho de SSD e</a:t>
            </a:r>
          </a:p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Memória Externa (HD)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WSL2 vs. CachyOS e Resolução de Problemas de Sistemas de Disco</a:t>
            </a:r>
          </a:p>
          <a:p>
            <a:pPr algn="l">
              <a:lnSpc>
                <a:spcPts val="288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Universidade Estadual da Santa Cruz 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Ilheus - Ba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Discente: Cleber Lopes e Guilherme Xavier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Docente: Sergio Fred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66214"/>
            <a:ext cx="1587738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AMBIENTE &amp; PARÂMETROS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 do Teste e Ambientes Comparados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2203894"/>
            <a:ext cx="15877384" cy="681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Perfil do Benchmark: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Leitura e Escrita Aleatória de 4KB (randrw / randread) com variância de queue depth e numjobs.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Métricas Coletadas: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IOPS (throughput de operações/s) e Latência média de resposta em microsegundos (µs) e milissegundos (ms).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Carga de Estresse: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Variação de iodepth (1 a 32) e numjobs (1 a 8) exportados via JSON individual.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Ambiente 1 (WSL2 / Windows 11):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Execução sob camada de virtualização do Hyper-V com SVM Mode habilitado na BIOS.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Ambiente 2 (CachyOS Nativo):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Execução bare-metal em Kernel Linux otimizado (CachyOS) no SSD Kingston SNV2S.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66214"/>
            <a:ext cx="1587738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RESULTADOS DE LEITURA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Performance de Leitura (IOPS) por Queue Depth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2196274"/>
            <a:ext cx="7686961" cy="4612176"/>
            <a:chOff x="0" y="0"/>
            <a:chExt cx="10249281" cy="6149569"/>
          </a:xfrm>
        </p:grpSpPr>
        <p:sp>
          <p:nvSpPr>
            <p:cNvPr name="Freeform 4" id="4" descr="Performance-de-Leitura---Kingston-SNV2S_2026-08-30_202001_oI.png"/>
            <p:cNvSpPr/>
            <p:nvPr/>
          </p:nvSpPr>
          <p:spPr>
            <a:xfrm flipH="false" flipV="false" rot="0">
              <a:off x="0" y="0"/>
              <a:ext cx="10249281" cy="6149594"/>
            </a:xfrm>
            <a:custGeom>
              <a:avLst/>
              <a:gdLst/>
              <a:ahLst/>
              <a:cxnLst/>
              <a:rect r="r" b="b" t="t" l="l"/>
              <a:pathLst>
                <a:path h="6149594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149594"/>
                  </a:lnTo>
                  <a:lnTo>
                    <a:pt x="0" y="6149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34176" y="2196274"/>
            <a:ext cx="7686961" cy="4612176"/>
            <a:chOff x="0" y="0"/>
            <a:chExt cx="10249281" cy="6149569"/>
          </a:xfrm>
        </p:grpSpPr>
        <p:sp>
          <p:nvSpPr>
            <p:cNvPr name="Freeform 6" id="6" descr="CachyPerformance-de-Leitura---Kingston-SNV2S_2026-08-30_204525_Rj.png"/>
            <p:cNvSpPr/>
            <p:nvPr/>
          </p:nvSpPr>
          <p:spPr>
            <a:xfrm flipH="false" flipV="false" rot="0">
              <a:off x="0" y="0"/>
              <a:ext cx="10249281" cy="6149594"/>
            </a:xfrm>
            <a:custGeom>
              <a:avLst/>
              <a:gdLst/>
              <a:ahLst/>
              <a:cxnLst/>
              <a:rect r="r" b="b" t="t" l="l"/>
              <a:pathLst>
                <a:path h="6149594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149594"/>
                  </a:lnTo>
                  <a:lnTo>
                    <a:pt x="0" y="6149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7959595"/>
            <a:ext cx="7504081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WSL2 (Windows 11): Performance máxima limitando-se a ~6.585 IOPS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5616" y="7959595"/>
            <a:ext cx="7504081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06B6D4"/>
                </a:solidFill>
                <a:latin typeface="Calibri (MS)"/>
                <a:ea typeface="Calibri (MS)"/>
                <a:cs typeface="Calibri (MS)"/>
                <a:sym typeface="Calibri (MS)"/>
              </a:rPr>
              <a:t>CachyOS (Nativo): Leitura alcança formidáveis ~39.000 IOPS (Quase 6x superior)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66214"/>
            <a:ext cx="1587738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CORRELAÇÃO 2D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2D: Throughput (IOPS) vs. Latência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2196274"/>
            <a:ext cx="7686961" cy="4612176"/>
            <a:chOff x="0" y="0"/>
            <a:chExt cx="10249281" cy="6149569"/>
          </a:xfrm>
        </p:grpSpPr>
        <p:sp>
          <p:nvSpPr>
            <p:cNvPr name="Freeform 4" id="4" descr="IOPS-vs-Latencia---Kingston-SNV2S_2026-08-30_202005_kR.png"/>
            <p:cNvSpPr/>
            <p:nvPr/>
          </p:nvSpPr>
          <p:spPr>
            <a:xfrm flipH="false" flipV="false" rot="0">
              <a:off x="0" y="0"/>
              <a:ext cx="10249281" cy="6149594"/>
            </a:xfrm>
            <a:custGeom>
              <a:avLst/>
              <a:gdLst/>
              <a:ahLst/>
              <a:cxnLst/>
              <a:rect r="r" b="b" t="t" l="l"/>
              <a:pathLst>
                <a:path h="6149594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149594"/>
                  </a:lnTo>
                  <a:lnTo>
                    <a:pt x="0" y="6149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34176" y="2196274"/>
            <a:ext cx="7686961" cy="4612176"/>
            <a:chOff x="0" y="0"/>
            <a:chExt cx="10249281" cy="6149569"/>
          </a:xfrm>
        </p:grpSpPr>
        <p:sp>
          <p:nvSpPr>
            <p:cNvPr name="Freeform 6" id="6" descr="CachyIOPS-vs-Latencia-(Agrupado)---Kingston-SNV2S_2026-08-30_204525_qh.png"/>
            <p:cNvSpPr/>
            <p:nvPr/>
          </p:nvSpPr>
          <p:spPr>
            <a:xfrm flipH="false" flipV="false" rot="0">
              <a:off x="0" y="0"/>
              <a:ext cx="10249281" cy="6149594"/>
            </a:xfrm>
            <a:custGeom>
              <a:avLst/>
              <a:gdLst/>
              <a:ahLst/>
              <a:cxnLst/>
              <a:rect r="r" b="b" t="t" l="l"/>
              <a:pathLst>
                <a:path h="6149594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149594"/>
                  </a:lnTo>
                  <a:lnTo>
                    <a:pt x="0" y="6149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7959595"/>
            <a:ext cx="750408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WSL2 (Windows 11): Max ~3.202 a 6.585 IOPS | Picos de Latência evidentes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5616" y="7959595"/>
            <a:ext cx="7504081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06B6D4"/>
                </a:solidFill>
                <a:latin typeface="Calibri (MS)"/>
                <a:ea typeface="Calibri (MS)"/>
                <a:cs typeface="Calibri (MS)"/>
                <a:sym typeface="Calibri (MS)"/>
              </a:rPr>
              <a:t>CachyOS (Nativo): Max ~39.000 IOPS | Escala consistente de Throughput x Latência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66214"/>
            <a:ext cx="1587738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3D DE ESTRESSE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Superfície Tridimensional de Latência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2196274"/>
            <a:ext cx="7686961" cy="5124640"/>
            <a:chOff x="0" y="0"/>
            <a:chExt cx="10249281" cy="6832854"/>
          </a:xfrm>
        </p:grpSpPr>
        <p:sp>
          <p:nvSpPr>
            <p:cNvPr name="Freeform 4" id="4" descr="Latencia-3D---Kingston-SNV2S_2026-08-30_202008_Uv.png"/>
            <p:cNvSpPr/>
            <p:nvPr/>
          </p:nvSpPr>
          <p:spPr>
            <a:xfrm flipH="false" flipV="false" rot="0">
              <a:off x="0" y="0"/>
              <a:ext cx="10249281" cy="6832854"/>
            </a:xfrm>
            <a:custGeom>
              <a:avLst/>
              <a:gdLst/>
              <a:ahLst/>
              <a:cxnLst/>
              <a:rect r="r" b="b" t="t" l="l"/>
              <a:pathLst>
                <a:path h="6832854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832854"/>
                  </a:lnTo>
                  <a:lnTo>
                    <a:pt x="0" y="683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34176" y="2196274"/>
            <a:ext cx="7686961" cy="5124640"/>
            <a:chOff x="0" y="0"/>
            <a:chExt cx="10249281" cy="6832854"/>
          </a:xfrm>
        </p:grpSpPr>
        <p:sp>
          <p:nvSpPr>
            <p:cNvPr name="Freeform 6" id="6" descr="CachyLatencia-3D---Kingston-SNV2S_2026-08-30_204526_mh.png"/>
            <p:cNvSpPr/>
            <p:nvPr/>
          </p:nvSpPr>
          <p:spPr>
            <a:xfrm flipH="false" flipV="false" rot="0">
              <a:off x="0" y="0"/>
              <a:ext cx="10249281" cy="6832854"/>
            </a:xfrm>
            <a:custGeom>
              <a:avLst/>
              <a:gdLst/>
              <a:ahLst/>
              <a:cxnLst/>
              <a:rect r="r" b="b" t="t" l="l"/>
              <a:pathLst>
                <a:path h="6832854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832854"/>
                  </a:lnTo>
                  <a:lnTo>
                    <a:pt x="0" y="683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7959595"/>
            <a:ext cx="7504081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WSL2 3D: Picos severos de latência escalando mal sob numjobs elevados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5616" y="7959595"/>
            <a:ext cx="7504081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06B6D4"/>
                </a:solidFill>
                <a:latin typeface="Calibri (MS)"/>
                <a:ea typeface="Calibri (MS)"/>
                <a:cs typeface="Calibri (MS)"/>
                <a:sym typeface="Calibri (MS)"/>
              </a:rPr>
              <a:t>CachyOS 3D: Latência contida mantendo a estabilidade mesmo sob estresse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66214"/>
            <a:ext cx="1587738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CONSIDERAÇÕES FINAIS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Conclusão e Diagnóstico Técnico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2203894"/>
            <a:ext cx="15877384" cy="681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Impacto da Virtualização (Overhead):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O teste comprovou que o WSL2 introduz uma penalidade expressiva de I/O, reduzindo significativamente a taxa de IOPS devido à camada de abstração do Hyper-V.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Desempenho de Leitura Nativo: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Rodando no Linux CachyOS, o SSD entregou leitura superior a 39.000 IOPS, evidenciando uma eficiência cerca de 6x maior.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Comportamento sob Carga e Latência:</a:t>
            </a:r>
            <a:r>
              <a:rPr lang="en-US" sz="24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À medida que o paralelismo aumenta (iodepth e numjobs), o WSL2 perde rapidamente o controle da latência, enquanto o ambiente bare-metal mantém o overhead mínimo.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1964667"/>
            <a:ext cx="14419642" cy="631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wsl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cd ~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sudo apt update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sudo apt install -y fio zlib1g-dev libjpeg-dev python3-pip python3-venv git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rm -rf fio-plot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git clone https://github.com/louwrentius/fio-plot.git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cd fio-plot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python3 -m venv venv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source venv/bin/activate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pip install fio-plot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mkdir -p /mnt/c/temp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bench-fio --target /mnt/c/temp --type directory --size 2G --mode randread --output MeuPC --iodepth 1 8 32 --numjobs 1 4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fio-plot -i MeuPC/temp/4k/ -T "Performance de Leitura - Kingston SNV2S" -l -r randread -d 1 8 32 -n 1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fio-plot -i MeuPC/temp/4k/ -T "IOPS vs Latencia (Agrupado) - Kingston SNV2S" -l -r randread -d 1 8 32 -n 1 --group-bars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fio-plot -i MeuPC/temp/4k/ -T "Latencia 3D - Kingston SNV2S" -L -t lat -r randread -d 1 8 32 -n 1 4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explorer.exe 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566214"/>
            <a:ext cx="158773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CÓDIGO FONTE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Código utilizado no Windows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2181225"/>
            <a:ext cx="14034929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sudo pacman -Syu --needed fio git python python-pip libjpeg-turbo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cd ~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rm -rf fio-plot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git clone https://github.com/louwrentius/fio-plot.git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cd fio-plot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-m venv venv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source venv/bin/activate.fish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pip install fio-plot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mkdir -p ~/temp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bench-fio --target ~/temp --type directory --size 2G --mode randread --output MeuPC --iodepth 1 8 32 --numjobs 1 4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fio-plot -i MeuPC/temp/4k/ -T "Performance de Leitura - Kingston SNV2S" -l -r randread -d 1 8 32 -n 1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fio-plot -i MeuPC/temp/4k/ -T "IOPS vs Latencia (Agrupado) - Kingston SNV2S" -l -r randread -d 1 8 32 -n 1 --group-bars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fio-plot -i MeuPC/temp/4k/ -T "Latencia 3D - Kingston SNV2S" -L -t lat -r randread -d 1 8 32 -n 1 4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xdg-open 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566214"/>
            <a:ext cx="158773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CÓDIGO FONTE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Código utilizado no CachyOs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4041" y="1247861"/>
            <a:ext cx="23431339" cy="91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0"/>
              </a:lnSpc>
            </a:pPr>
            <a:r>
              <a:rPr lang="en-US" sz="531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Referencias: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0704" y="3131648"/>
            <a:ext cx="16326485" cy="485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2" tooltip="https://pypi.org/project/fio-plot/https:/github.com/louwrentius/fio-plot/blob/master/README.md"/>
              </a:rPr>
              <a:t>https://pypi.org/project/fio-plot/</a:t>
            </a:r>
          </a:p>
          <a:p>
            <a:pPr algn="l">
              <a:lnSpc>
                <a:spcPts val="6439"/>
              </a:lnSpc>
            </a:pPr>
          </a:p>
          <a:p>
            <a:pPr algn="l">
              <a:lnSpc>
                <a:spcPts val="6439"/>
              </a:lnSpc>
            </a:pPr>
          </a:p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3" tooltip="https://pypi.org/project/fio-plot/https:/github.com/louwrentius/fio-plot/blob/master/README.md"/>
              </a:rPr>
              <a:t>https:/github.com/louwrentius/fio-plot/blob/master/README.md</a:t>
            </a:r>
          </a:p>
          <a:p>
            <a:pPr algn="l">
              <a:lnSpc>
                <a:spcPts val="6439"/>
              </a:lnSpc>
            </a:pPr>
          </a:p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https://github.com/Jr-Lopes/trabalhoORI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DAHT6JJZJRw</dc:identifier>
  <dcterms:modified xsi:type="dcterms:W3CDTF">2011-08-01T06:04:30Z</dcterms:modified>
  <cp:revision>1</cp:revision>
  <dc:title>Cleber_Guilherme_ORI_metricas.pptx</dc:title>
</cp:coreProperties>
</file>