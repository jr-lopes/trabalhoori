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x="18288000" cy="10287000"/>
  <p:notesSz cx="6858000" cy="9144000"/>
  <p:embeddedFontLst>
    <p:embeddedFont>
      <p:font typeface="Calibri (MS) Bold" charset="1" panose="020F0702030404030204"/>
      <p:regular r:id="rId15"/>
    </p:embeddedFont>
    <p:embeddedFont>
      <p:font typeface="Calibri (MS)" charset="1" panose="020F0502020204030204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Relationship Id="rId3" Target="../media/image5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png" Type="http://schemas.openxmlformats.org/officeDocument/2006/relationships/image"/><Relationship Id="rId3" Target="../media/image7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714701" y="233279"/>
            <a:ext cx="1993215" cy="2583611"/>
          </a:xfrm>
          <a:custGeom>
            <a:avLst/>
            <a:gdLst/>
            <a:ahLst/>
            <a:cxnLst/>
            <a:rect r="r" b="b" t="t" l="l"/>
            <a:pathLst>
              <a:path h="2583611" w="1993215">
                <a:moveTo>
                  <a:pt x="0" y="0"/>
                </a:moveTo>
                <a:lnTo>
                  <a:pt x="1993215" y="0"/>
                </a:lnTo>
                <a:lnTo>
                  <a:pt x="1993215" y="2583610"/>
                </a:lnTo>
                <a:lnTo>
                  <a:pt x="0" y="258361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833924" y="3167090"/>
            <a:ext cx="15877384" cy="4267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BENCHMARK E RESOLUÇÃO DE EXERCÍCIOS</a:t>
            </a:r>
          </a:p>
          <a:p>
            <a:pPr algn="l">
              <a:lnSpc>
                <a:spcPts val="6845"/>
              </a:lnSpc>
            </a:pPr>
            <a:r>
              <a:rPr lang="en-US" sz="5704" b="true">
                <a:solidFill>
                  <a:srgbClr val="F8FAF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Análise de Desempenho de SSD e</a:t>
            </a:r>
          </a:p>
          <a:p>
            <a:pPr algn="l">
              <a:lnSpc>
                <a:spcPts val="6845"/>
              </a:lnSpc>
            </a:pPr>
            <a:r>
              <a:rPr lang="en-US" sz="5704" b="true">
                <a:solidFill>
                  <a:srgbClr val="F8FAF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Memória Externa (HD)</a:t>
            </a:r>
          </a:p>
          <a:p>
            <a:pPr algn="l">
              <a:lnSpc>
                <a:spcPts val="2882"/>
              </a:lnSpc>
            </a:pPr>
            <a:r>
              <a:rPr lang="en-US" sz="24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WSL2 vs. CachyOS e Resolução de Problemas de Sistemas de Disco</a:t>
            </a:r>
          </a:p>
          <a:p>
            <a:pPr algn="l">
              <a:lnSpc>
                <a:spcPts val="2882"/>
              </a:lnSpc>
            </a:pPr>
          </a:p>
          <a:p>
            <a:pPr algn="l">
              <a:lnSpc>
                <a:spcPts val="2882"/>
              </a:lnSpc>
            </a:pPr>
            <a:r>
              <a:rPr lang="en-US" sz="24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Universidade Estadual da Santa Cruz </a:t>
            </a:r>
          </a:p>
          <a:p>
            <a:pPr algn="l">
              <a:lnSpc>
                <a:spcPts val="2882"/>
              </a:lnSpc>
            </a:pPr>
            <a:r>
              <a:rPr lang="en-US" sz="24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Ilheus - Ba</a:t>
            </a:r>
          </a:p>
          <a:p>
            <a:pPr algn="l">
              <a:lnSpc>
                <a:spcPts val="2882"/>
              </a:lnSpc>
            </a:pPr>
            <a:r>
              <a:rPr lang="en-US" sz="24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Discente: Cleber Lopes e Guilherme Xavier</a:t>
            </a:r>
          </a:p>
          <a:p>
            <a:pPr algn="l">
              <a:lnSpc>
                <a:spcPts val="2882"/>
              </a:lnSpc>
            </a:pPr>
            <a:r>
              <a:rPr lang="en-US" sz="240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Docente: Sergio Fred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89577" y="566214"/>
            <a:ext cx="15877384" cy="1309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AMBIENTE &amp; PARÂMETROS</a:t>
            </a:r>
          </a:p>
          <a:p>
            <a:pPr algn="l">
              <a:lnSpc>
                <a:spcPts val="4323"/>
              </a:lnSpc>
            </a:pPr>
            <a:r>
              <a:rPr lang="en-US" sz="3602" b="true">
                <a:solidFill>
                  <a:srgbClr val="F8FAF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Metodologia do Teste e Ambientes Comparados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189577" y="2203894"/>
            <a:ext cx="15877384" cy="68100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</a:p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Perfil do Benchmark:</a:t>
            </a:r>
            <a:r>
              <a:rPr lang="en-US" sz="24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Leitura e Escrita Aleatória de 4KB (randrw / randread) com variância de queue depth e numjobs.</a:t>
            </a:r>
          </a:p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Métricas Coletadas:</a:t>
            </a:r>
            <a:r>
              <a:rPr lang="en-US" sz="24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IOPS (throughput de operações/s) e Latência média de resposta em microsegundos (µs) e milissegundos (ms).</a:t>
            </a:r>
          </a:p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Carga de Estresse:</a:t>
            </a:r>
            <a:r>
              <a:rPr lang="en-US" sz="24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Variação de iodepth (1 a 32) e numjobs (1 a 8) exportados via JSON individual.</a:t>
            </a:r>
          </a:p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Ambiente 1 (WSL2 / Windows 11):</a:t>
            </a:r>
            <a:r>
              <a:rPr lang="en-US" sz="24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Execução sob camada de virtualização do Hyper-V com SVM Mode habilitado na BIOS.</a:t>
            </a:r>
          </a:p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Ambiente 2 (CachyOS Nativo):</a:t>
            </a:r>
            <a:r>
              <a:rPr lang="en-US" sz="24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Execução bare-metal em Kernel Linux otimizado (CachyOS) no SSD Kingston SNV2S.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89577" y="566214"/>
            <a:ext cx="15877384" cy="1309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RESULTADOS DE LEITURA</a:t>
            </a:r>
          </a:p>
          <a:p>
            <a:pPr algn="l">
              <a:lnSpc>
                <a:spcPts val="4323"/>
              </a:lnSpc>
            </a:pPr>
            <a:r>
              <a:rPr lang="en-US" sz="3602" b="true">
                <a:solidFill>
                  <a:srgbClr val="F8FAF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Performance de Leitura (IOPS) por Queue Depth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98137" y="2196274"/>
            <a:ext cx="7686961" cy="4612176"/>
            <a:chOff x="0" y="0"/>
            <a:chExt cx="10249281" cy="6149569"/>
          </a:xfrm>
        </p:grpSpPr>
        <p:sp>
          <p:nvSpPr>
            <p:cNvPr name="Freeform 4" id="4" descr="Performance-de-Leitura---Kingston-SNV2S_2026-08-30_202001_oI.png"/>
            <p:cNvSpPr/>
            <p:nvPr/>
          </p:nvSpPr>
          <p:spPr>
            <a:xfrm flipH="false" flipV="false" rot="0">
              <a:off x="0" y="0"/>
              <a:ext cx="10249281" cy="6149594"/>
            </a:xfrm>
            <a:custGeom>
              <a:avLst/>
              <a:gdLst/>
              <a:ahLst/>
              <a:cxnLst/>
              <a:rect r="r" b="b" t="t" l="l"/>
              <a:pathLst>
                <a:path h="6149594" w="10249281">
                  <a:moveTo>
                    <a:pt x="0" y="0"/>
                  </a:moveTo>
                  <a:lnTo>
                    <a:pt x="10249281" y="0"/>
                  </a:lnTo>
                  <a:lnTo>
                    <a:pt x="10249281" y="6149594"/>
                  </a:lnTo>
                  <a:lnTo>
                    <a:pt x="0" y="6149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334176" y="2196274"/>
            <a:ext cx="7686961" cy="4612176"/>
            <a:chOff x="0" y="0"/>
            <a:chExt cx="10249281" cy="6149569"/>
          </a:xfrm>
        </p:grpSpPr>
        <p:sp>
          <p:nvSpPr>
            <p:cNvPr name="Freeform 6" id="6" descr="CachyPerformance-de-Leitura---Kingston-SNV2S_2026-08-30_204525_Rj.png"/>
            <p:cNvSpPr/>
            <p:nvPr/>
          </p:nvSpPr>
          <p:spPr>
            <a:xfrm flipH="false" flipV="false" rot="0">
              <a:off x="0" y="0"/>
              <a:ext cx="10249281" cy="6149594"/>
            </a:xfrm>
            <a:custGeom>
              <a:avLst/>
              <a:gdLst/>
              <a:ahLst/>
              <a:cxnLst/>
              <a:rect r="r" b="b" t="t" l="l"/>
              <a:pathLst>
                <a:path h="6149594" w="10249281">
                  <a:moveTo>
                    <a:pt x="0" y="0"/>
                  </a:moveTo>
                  <a:lnTo>
                    <a:pt x="10249281" y="0"/>
                  </a:lnTo>
                  <a:lnTo>
                    <a:pt x="10249281" y="6149594"/>
                  </a:lnTo>
                  <a:lnTo>
                    <a:pt x="0" y="6149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1189577" y="7959595"/>
            <a:ext cx="7504081" cy="1328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WSL2 (Windows 11): Performance máxima limitando-se a ~6.585 IOPS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425616" y="7959595"/>
            <a:ext cx="7504081" cy="1328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06B6D4"/>
                </a:solidFill>
                <a:latin typeface="Calibri (MS)"/>
                <a:ea typeface="Calibri (MS)"/>
                <a:cs typeface="Calibri (MS)"/>
                <a:sym typeface="Calibri (MS)"/>
              </a:rPr>
              <a:t>CachyOS (Nativo): Leitura alcança formidáveis ~39.000 IOPS (Quase 6x superior)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89577" y="566214"/>
            <a:ext cx="15877384" cy="1309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CORRELAÇÃO 2D</a:t>
            </a:r>
          </a:p>
          <a:p>
            <a:pPr algn="l">
              <a:lnSpc>
                <a:spcPts val="4323"/>
              </a:lnSpc>
            </a:pPr>
            <a:r>
              <a:rPr lang="en-US" sz="3602" b="true">
                <a:solidFill>
                  <a:srgbClr val="F8FAF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Análise 2D: Throughput (IOPS) vs. Latência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98137" y="2196274"/>
            <a:ext cx="7686961" cy="4612176"/>
            <a:chOff x="0" y="0"/>
            <a:chExt cx="10249281" cy="6149569"/>
          </a:xfrm>
        </p:grpSpPr>
        <p:sp>
          <p:nvSpPr>
            <p:cNvPr name="Freeform 4" id="4" descr="IOPS-vs-Latencia---Kingston-SNV2S_2026-08-30_202005_kR.png"/>
            <p:cNvSpPr/>
            <p:nvPr/>
          </p:nvSpPr>
          <p:spPr>
            <a:xfrm flipH="false" flipV="false" rot="0">
              <a:off x="0" y="0"/>
              <a:ext cx="10249281" cy="6149594"/>
            </a:xfrm>
            <a:custGeom>
              <a:avLst/>
              <a:gdLst/>
              <a:ahLst/>
              <a:cxnLst/>
              <a:rect r="r" b="b" t="t" l="l"/>
              <a:pathLst>
                <a:path h="6149594" w="10249281">
                  <a:moveTo>
                    <a:pt x="0" y="0"/>
                  </a:moveTo>
                  <a:lnTo>
                    <a:pt x="10249281" y="0"/>
                  </a:lnTo>
                  <a:lnTo>
                    <a:pt x="10249281" y="6149594"/>
                  </a:lnTo>
                  <a:lnTo>
                    <a:pt x="0" y="6149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334176" y="2196274"/>
            <a:ext cx="7686961" cy="4612176"/>
            <a:chOff x="0" y="0"/>
            <a:chExt cx="10249281" cy="6149569"/>
          </a:xfrm>
        </p:grpSpPr>
        <p:sp>
          <p:nvSpPr>
            <p:cNvPr name="Freeform 6" id="6" descr="CachyIOPS-vs-Latencia-(Agrupado)---Kingston-SNV2S_2026-08-30_204525_qh.png"/>
            <p:cNvSpPr/>
            <p:nvPr/>
          </p:nvSpPr>
          <p:spPr>
            <a:xfrm flipH="false" flipV="false" rot="0">
              <a:off x="0" y="0"/>
              <a:ext cx="10249281" cy="6149594"/>
            </a:xfrm>
            <a:custGeom>
              <a:avLst/>
              <a:gdLst/>
              <a:ahLst/>
              <a:cxnLst/>
              <a:rect r="r" b="b" t="t" l="l"/>
              <a:pathLst>
                <a:path h="6149594" w="10249281">
                  <a:moveTo>
                    <a:pt x="0" y="0"/>
                  </a:moveTo>
                  <a:lnTo>
                    <a:pt x="10249281" y="0"/>
                  </a:lnTo>
                  <a:lnTo>
                    <a:pt x="10249281" y="6149594"/>
                  </a:lnTo>
                  <a:lnTo>
                    <a:pt x="0" y="61495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1189577" y="7959595"/>
            <a:ext cx="7504081" cy="1328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WSL2 (Windows 11): Max ~3.202 a 5.700 IOPS | Picos de Latência evidentes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425616" y="7959595"/>
            <a:ext cx="7504081" cy="1328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06B6D4"/>
                </a:solidFill>
                <a:latin typeface="Calibri (MS)"/>
                <a:ea typeface="Calibri (MS)"/>
                <a:cs typeface="Calibri (MS)"/>
                <a:sym typeface="Calibri (MS)"/>
              </a:rPr>
              <a:t>CachyOS (Nativo): Max ~39.000 IOPS | Escala consistente de Throughput x Latência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89577" y="566214"/>
            <a:ext cx="15877384" cy="1309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ANÁLISE 3D DE ESTRESSE</a:t>
            </a:r>
          </a:p>
          <a:p>
            <a:pPr algn="l">
              <a:lnSpc>
                <a:spcPts val="4323"/>
              </a:lnSpc>
            </a:pPr>
            <a:r>
              <a:rPr lang="en-US" sz="3602" b="true">
                <a:solidFill>
                  <a:srgbClr val="F8FAF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Superfície Tridimensional de Latência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98137" y="2196274"/>
            <a:ext cx="7686961" cy="5124640"/>
            <a:chOff x="0" y="0"/>
            <a:chExt cx="10249281" cy="6832854"/>
          </a:xfrm>
        </p:grpSpPr>
        <p:sp>
          <p:nvSpPr>
            <p:cNvPr name="Freeform 4" id="4" descr="Latencia-3D---Kingston-SNV2S_2026-08-30_202008_Uv.png"/>
            <p:cNvSpPr/>
            <p:nvPr/>
          </p:nvSpPr>
          <p:spPr>
            <a:xfrm flipH="false" flipV="false" rot="0">
              <a:off x="0" y="0"/>
              <a:ext cx="10249281" cy="6832854"/>
            </a:xfrm>
            <a:custGeom>
              <a:avLst/>
              <a:gdLst/>
              <a:ahLst/>
              <a:cxnLst/>
              <a:rect r="r" b="b" t="t" l="l"/>
              <a:pathLst>
                <a:path h="6832854" w="10249281">
                  <a:moveTo>
                    <a:pt x="0" y="0"/>
                  </a:moveTo>
                  <a:lnTo>
                    <a:pt x="10249281" y="0"/>
                  </a:lnTo>
                  <a:lnTo>
                    <a:pt x="10249281" y="6832854"/>
                  </a:lnTo>
                  <a:lnTo>
                    <a:pt x="0" y="6832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0"/>
              </a:stretch>
            </a:blipFill>
          </p:spPr>
        </p:sp>
      </p:grpSp>
      <p:grpSp>
        <p:nvGrpSpPr>
          <p:cNvPr name="Group 5" id="5"/>
          <p:cNvGrpSpPr/>
          <p:nvPr/>
        </p:nvGrpSpPr>
        <p:grpSpPr>
          <a:xfrm rot="0">
            <a:off x="9334176" y="2196274"/>
            <a:ext cx="7686961" cy="5124640"/>
            <a:chOff x="0" y="0"/>
            <a:chExt cx="10249281" cy="6832854"/>
          </a:xfrm>
        </p:grpSpPr>
        <p:sp>
          <p:nvSpPr>
            <p:cNvPr name="Freeform 6" id="6" descr="CachyLatencia-3D---Kingston-SNV2S_2026-08-30_204526_mh.png"/>
            <p:cNvSpPr/>
            <p:nvPr/>
          </p:nvSpPr>
          <p:spPr>
            <a:xfrm flipH="false" flipV="false" rot="0">
              <a:off x="0" y="0"/>
              <a:ext cx="10249281" cy="6832854"/>
            </a:xfrm>
            <a:custGeom>
              <a:avLst/>
              <a:gdLst/>
              <a:ahLst/>
              <a:cxnLst/>
              <a:rect r="r" b="b" t="t" l="l"/>
              <a:pathLst>
                <a:path h="6832854" w="10249281">
                  <a:moveTo>
                    <a:pt x="0" y="0"/>
                  </a:moveTo>
                  <a:lnTo>
                    <a:pt x="10249281" y="0"/>
                  </a:lnTo>
                  <a:lnTo>
                    <a:pt x="10249281" y="6832854"/>
                  </a:lnTo>
                  <a:lnTo>
                    <a:pt x="0" y="68328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sp>
        <p:nvSpPr>
          <p:cNvPr name="TextBox 7" id="7"/>
          <p:cNvSpPr txBox="true"/>
          <p:nvPr/>
        </p:nvSpPr>
        <p:spPr>
          <a:xfrm rot="0">
            <a:off x="1189577" y="7959595"/>
            <a:ext cx="7504081" cy="1328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94A3B8"/>
                </a:solidFill>
                <a:latin typeface="Calibri (MS)"/>
                <a:ea typeface="Calibri (MS)"/>
                <a:cs typeface="Calibri (MS)"/>
                <a:sym typeface="Calibri (MS)"/>
              </a:rPr>
              <a:t>WSL2 3D: Picos severos de latência escalando mal sob numjobs elevados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425616" y="7959595"/>
            <a:ext cx="7504081" cy="132886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1"/>
              </a:lnSpc>
            </a:pPr>
            <a:r>
              <a:rPr lang="en-US" sz="1951">
                <a:solidFill>
                  <a:srgbClr val="06B6D4"/>
                </a:solidFill>
                <a:latin typeface="Calibri (MS)"/>
                <a:ea typeface="Calibri (MS)"/>
                <a:cs typeface="Calibri (MS)"/>
                <a:sym typeface="Calibri (MS)"/>
              </a:rPr>
              <a:t>CachyOS 3D: Latência contida mantendo a estabilidade mesmo sob estresse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89577" y="566214"/>
            <a:ext cx="15877384" cy="1309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CONSIDERAÇÕES FINAIS</a:t>
            </a:r>
          </a:p>
          <a:p>
            <a:pPr algn="l">
              <a:lnSpc>
                <a:spcPts val="4323"/>
              </a:lnSpc>
            </a:pPr>
            <a:r>
              <a:rPr lang="en-US" sz="3602" b="true">
                <a:solidFill>
                  <a:srgbClr val="F8FAF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Conclusão e Diagnóstico Técnico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189577" y="2203894"/>
            <a:ext cx="15877384" cy="68100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</a:p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1. Impacto da Virtualização (Overhead):</a:t>
            </a:r>
            <a:r>
              <a:rPr lang="en-US" sz="24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O teste comprovou que o WSL2 introduz uma penalidade expressiva de I/O, reduzindo significativamente a taxa de IOPS devido à camada de abstração do Hyper-V.</a:t>
            </a:r>
          </a:p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2. Desempenho de Leitura Nativo:</a:t>
            </a:r>
            <a:r>
              <a:rPr lang="en-US" sz="24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Rodando no Linux CachyOS, o SSD entregou leitura superior a 39.000 IOPS, evidenciando uma eficiência cerca de 6x maior.</a:t>
            </a:r>
          </a:p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3. Comportamento sob Carga e Latência:</a:t>
            </a:r>
            <a:r>
              <a:rPr lang="en-US" sz="24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À medida que o paralelismo aumenta (iodepth e numjobs), o WSL2 perde rapidamente o controle da latência, enquanto o ambiente bare-metal mantém o overhead mínimo.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89577" y="566214"/>
            <a:ext cx="15877384" cy="1309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SISTEMAS DE DISCO</a:t>
            </a:r>
          </a:p>
          <a:p>
            <a:pPr algn="l">
              <a:lnSpc>
                <a:spcPts val="4323"/>
              </a:lnSpc>
            </a:pPr>
            <a:r>
              <a:rPr lang="en-US" sz="3602" b="true">
                <a:solidFill>
                  <a:srgbClr val="F8FAF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Exercício 2 – Memória Externa (Fórmula de Acesso)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189577" y="2203894"/>
            <a:ext cx="15877384" cy="68100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2"/>
              </a:lnSpc>
            </a:pPr>
          </a:p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Fórmula de Tempo de Acesso (tA):</a:t>
            </a:r>
            <a:r>
              <a:rPr lang="en-US" sz="24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O tempo total de acesso a um setor é a soma de três componentes principais:</a:t>
            </a:r>
          </a:p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1. Tempo de Seek (ts):</a:t>
            </a:r>
            <a:r>
              <a:rPr lang="en-US" sz="24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Tempo médio para posicionar a cabeça sobre a trilha desejada.</a:t>
            </a:r>
          </a:p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2. Latência Rotacional:</a:t>
            </a:r>
            <a:r>
              <a:rPr lang="en-US" sz="24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Tempo médio para o setor chegar até a cabeça de leitura. Equivale a meia rotação: 1 / (2r).</a:t>
            </a:r>
          </a:p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3. Tempo de Transferência:</a:t>
            </a:r>
            <a:r>
              <a:rPr lang="en-US" sz="24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Tempo para ler os n bits do setor. Como a trilha tem N bits e uma rotação demora 1/r, o tempo é n / (r * N).</a:t>
            </a:r>
          </a:p>
          <a:p>
            <a:pPr algn="l">
              <a:lnSpc>
                <a:spcPts val="2882"/>
              </a:lnSpc>
            </a:pPr>
            <a:r>
              <a:rPr lang="en-US" sz="24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Resultado Final:</a:t>
            </a:r>
          </a:p>
          <a:p>
            <a:pPr algn="ctr">
              <a:lnSpc>
                <a:spcPts val="5043"/>
              </a:lnSpc>
            </a:pPr>
            <a:r>
              <a:rPr lang="en-US" sz="4203" b="true">
                <a:solidFill>
                  <a:srgbClr val="F8FAF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tA = ts + 1/(2r) + n/(rN)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89577" y="566214"/>
            <a:ext cx="15877384" cy="1309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SISTEMAS DE DISCO</a:t>
            </a:r>
          </a:p>
          <a:p>
            <a:pPr algn="l">
              <a:lnSpc>
                <a:spcPts val="4323"/>
              </a:lnSpc>
            </a:pPr>
            <a:r>
              <a:rPr lang="en-US" sz="3602" b="true">
                <a:solidFill>
                  <a:srgbClr val="F8FAF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Exercício 3 – Parâmetros Físicos e Desempenho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189577" y="2194369"/>
            <a:ext cx="15877384" cy="6819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</a:p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a) Capacidade do disco:</a:t>
            </a: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8 superfícies × 512 trilhas × 64 setores × 1 kB = 262.144 kB = 256 MB.</a:t>
            </a:r>
          </a:p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b) Tempo médio de acesso (tA):</a:t>
            </a: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Seek: 8 ms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Rotacional: 0.5 × (60 / 3600) s = 8.33 ms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Transferência: (1 / 64) × (1 / 60) s = 0.26 ms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Total tA = 8 + 8.33 + 0.26 = 16.59 ms</a:t>
            </a:r>
          </a:p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c) Tempo para transferir arquivo de 5-MB:</a:t>
            </a: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5MB = 5120 setores. Isso requer ler 10 cilindros completos (10 × 512 setores).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1º Acesso: 16.33 ms (seek + rotacional)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Ler 10 cilindros: 10 × (8 trilhas × 16.67 ms) = 1333.33 ms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• Mudança de cilindro (9 pulos): 9 × 1.5 ms = 13.5 ms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Total = 16.33 + 1333.33 + 13.5 = 1363.16 ms (~1.36 segundos).</a:t>
            </a:r>
          </a:p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d) Taxa de transferência de rajada:</a:t>
            </a: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1 trilha (64 kB) lida em 1 rotação (16.67 ms). Rate = 64 kB / 0.01667 s = 3.84 MB/s.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189577" y="566214"/>
            <a:ext cx="15877384" cy="1309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81"/>
              </a:lnSpc>
            </a:pPr>
            <a:r>
              <a:rPr lang="en-US" sz="165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SISTEMAS DE DISCO</a:t>
            </a:r>
          </a:p>
          <a:p>
            <a:pPr algn="l">
              <a:lnSpc>
                <a:spcPts val="4323"/>
              </a:lnSpc>
            </a:pPr>
            <a:r>
              <a:rPr lang="en-US" sz="3602" b="true">
                <a:solidFill>
                  <a:srgbClr val="F8FAFC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Exercício 4 – Disco com Prato Único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189577" y="2194369"/>
            <a:ext cx="15877384" cy="681954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521"/>
              </a:lnSpc>
            </a:pPr>
          </a:p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Parâmetros iniciais:</a:t>
            </a: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7200 rpm (120 rev/s), 30.000 trilhas, 600 setores/trilha. Cabeça inicia na trilha 0.</a:t>
            </a:r>
          </a:p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a) Qual é o tempo médio de seek?</a:t>
            </a: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A distância média partindo da borda (trilha 0) para um ponto aleatório é metade das trilhas = 15.000 trilhas. 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Tempo = (15.000 / 100) × 1 ms = 150 ms.</a:t>
            </a:r>
          </a:p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b) Qual é a latência rotacional média?</a:t>
            </a: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É o tempo de meia rotação do disco. 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Tempo = 0.5 × (1 / 120 rev/s) = 4.17 ms.</a:t>
            </a:r>
          </a:p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c) Qual é o tempo de transferência por setor?</a:t>
            </a: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É o tempo de uma rotação inteira dividido pela quantidade de setores na trilha. 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Tempo = (1 / 120) / 600 = 0.0138 ms.</a:t>
            </a:r>
          </a:p>
          <a:p>
            <a:pPr algn="l">
              <a:lnSpc>
                <a:spcPts val="2521"/>
              </a:lnSpc>
            </a:pPr>
            <a:r>
              <a:rPr lang="en-US" sz="2101" b="true">
                <a:solidFill>
                  <a:srgbClr val="06B6D4"/>
                </a:solidFill>
                <a:latin typeface="Calibri (MS) Bold"/>
                <a:ea typeface="Calibri (MS) Bold"/>
                <a:cs typeface="Calibri (MS) Bold"/>
                <a:sym typeface="Calibri (MS) Bold"/>
              </a:rPr>
              <a:t>d) Média de tempo total para a requisição:</a:t>
            </a: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 Soma de todos os atrasos (Seek + Rotacional + Transferência). </a:t>
            </a:r>
          </a:p>
          <a:p>
            <a:pPr algn="l">
              <a:lnSpc>
                <a:spcPts val="2521"/>
              </a:lnSpc>
            </a:pPr>
            <a:r>
              <a:rPr lang="en-US" sz="2101">
                <a:solidFill>
                  <a:srgbClr val="F8FAFC"/>
                </a:solidFill>
                <a:latin typeface="Calibri (MS)"/>
                <a:ea typeface="Calibri (MS)"/>
                <a:cs typeface="Calibri (MS)"/>
                <a:sym typeface="Calibri (MS)"/>
              </a:rPr>
              <a:t>Total = 150 + 4.17 + 0.0138 = 154.18 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DAHT6JJZJRw</dc:identifier>
  <dcterms:modified xsi:type="dcterms:W3CDTF">2011-08-01T06:04:30Z</dcterms:modified>
  <cp:revision>1</cp:revision>
  <dc:title>Apresentacao_SSD_Benchmark_Completa_Final.pptx</dc:title>
</cp:coreProperties>
</file>